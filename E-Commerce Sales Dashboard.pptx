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Gagalin" charset="1" panose="00000500000000000000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  <p:embeddedFont>
      <p:font typeface="Shrikhand" charset="1" panose="02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9.png" Type="http://schemas.openxmlformats.org/officeDocument/2006/relationships/image"/><Relationship Id="rId19" Target="../media/image40.svg" Type="http://schemas.openxmlformats.org/officeDocument/2006/relationships/image"/><Relationship Id="rId2" Target="../media/image27.png" Type="http://schemas.openxmlformats.org/officeDocument/2006/relationships/image"/><Relationship Id="rId20" Target="../media/image41.png" Type="http://schemas.openxmlformats.org/officeDocument/2006/relationships/image"/><Relationship Id="rId21" Target="../media/image42.sv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40116" y="1240304"/>
            <a:ext cx="1518396" cy="1289108"/>
          </a:xfrm>
          <a:custGeom>
            <a:avLst/>
            <a:gdLst/>
            <a:ahLst/>
            <a:cxnLst/>
            <a:rect r="r" b="b" t="t" l="l"/>
            <a:pathLst>
              <a:path h="1289108" w="1518396">
                <a:moveTo>
                  <a:pt x="0" y="0"/>
                </a:moveTo>
                <a:lnTo>
                  <a:pt x="1518397" y="0"/>
                </a:lnTo>
                <a:lnTo>
                  <a:pt x="1518397" y="1289108"/>
                </a:lnTo>
                <a:lnTo>
                  <a:pt x="0" y="128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67221" y="6712694"/>
            <a:ext cx="4420779" cy="4420779"/>
            <a:chOff x="0" y="0"/>
            <a:chExt cx="558800" cy="558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91919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644162" y="5911792"/>
            <a:ext cx="4866898" cy="4866898"/>
            <a:chOff x="0" y="0"/>
            <a:chExt cx="558800" cy="55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88900"/>
              <a:ext cx="30480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615807" y="5911792"/>
            <a:ext cx="4672193" cy="4375208"/>
            <a:chOff x="0" y="0"/>
            <a:chExt cx="596731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731" cy="558800"/>
            </a:xfrm>
            <a:custGeom>
              <a:avLst/>
              <a:gdLst/>
              <a:ahLst/>
              <a:cxnLst/>
              <a:rect r="r" b="b" t="t" l="l"/>
              <a:pathLst>
                <a:path h="558800" w="596731">
                  <a:moveTo>
                    <a:pt x="0" y="558800"/>
                  </a:moveTo>
                  <a:cubicBezTo>
                    <a:pt x="0" y="411634"/>
                    <a:pt x="63652" y="267731"/>
                    <a:pt x="174778" y="163669"/>
                  </a:cubicBezTo>
                  <a:cubicBezTo>
                    <a:pt x="285905" y="59606"/>
                    <a:pt x="439575" y="0"/>
                    <a:pt x="596731" y="0"/>
                  </a:cubicBezTo>
                  <a:lnTo>
                    <a:pt x="596731" y="285081"/>
                  </a:lnTo>
                  <a:cubicBezTo>
                    <a:pt x="519750" y="285081"/>
                    <a:pt x="444478" y="314278"/>
                    <a:pt x="390044" y="365251"/>
                  </a:cubicBezTo>
                  <a:cubicBezTo>
                    <a:pt x="335611" y="416225"/>
                    <a:pt x="304432" y="486712"/>
                    <a:pt x="304432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5621" y="88900"/>
              <a:ext cx="325490" cy="342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38078" y="2770449"/>
            <a:ext cx="6372982" cy="8008241"/>
            <a:chOff x="0" y="0"/>
            <a:chExt cx="586884" cy="7374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6884" cy="737474"/>
            </a:xfrm>
            <a:custGeom>
              <a:avLst/>
              <a:gdLst/>
              <a:ahLst/>
              <a:cxnLst/>
              <a:rect r="r" b="b" t="t" l="l"/>
              <a:pathLst>
                <a:path h="737474" w="586884">
                  <a:moveTo>
                    <a:pt x="0" y="737474"/>
                  </a:moveTo>
                  <a:cubicBezTo>
                    <a:pt x="0" y="543252"/>
                    <a:pt x="62602" y="353337"/>
                    <a:pt x="171894" y="216001"/>
                  </a:cubicBezTo>
                  <a:cubicBezTo>
                    <a:pt x="281187" y="78665"/>
                    <a:pt x="432322" y="0"/>
                    <a:pt x="586884" y="0"/>
                  </a:cubicBezTo>
                  <a:lnTo>
                    <a:pt x="586884" y="376234"/>
                  </a:lnTo>
                  <a:cubicBezTo>
                    <a:pt x="511173" y="376234"/>
                    <a:pt x="437143" y="414767"/>
                    <a:pt x="383608" y="482038"/>
                  </a:cubicBezTo>
                  <a:cubicBezTo>
                    <a:pt x="330073" y="549311"/>
                    <a:pt x="299408" y="642337"/>
                    <a:pt x="299408" y="737474"/>
                  </a:cubicBezTo>
                  <a:lnTo>
                    <a:pt x="0" y="737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3383" y="129508"/>
              <a:ext cx="320119" cy="440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613714" y="-236251"/>
            <a:ext cx="18901714" cy="1878812"/>
            <a:chOff x="0" y="0"/>
            <a:chExt cx="3811457" cy="3788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1457" cy="381213"/>
            </a:xfrm>
            <a:custGeom>
              <a:avLst/>
              <a:gdLst/>
              <a:ahLst/>
              <a:cxnLst/>
              <a:rect r="r" b="b" t="t" l="l"/>
              <a:pathLst>
                <a:path h="381213" w="3811457">
                  <a:moveTo>
                    <a:pt x="3803617" y="0"/>
                  </a:moveTo>
                  <a:lnTo>
                    <a:pt x="7840" y="0"/>
                  </a:lnTo>
                  <a:cubicBezTo>
                    <a:pt x="5761" y="0"/>
                    <a:pt x="3766" y="826"/>
                    <a:pt x="2296" y="2296"/>
                  </a:cubicBezTo>
                  <a:cubicBezTo>
                    <a:pt x="826" y="3766"/>
                    <a:pt x="0" y="5761"/>
                    <a:pt x="0" y="7840"/>
                  </a:cubicBezTo>
                  <a:lnTo>
                    <a:pt x="0" y="339856"/>
                  </a:lnTo>
                  <a:cubicBezTo>
                    <a:pt x="202737" y="369285"/>
                    <a:pt x="851495" y="415968"/>
                    <a:pt x="1824630" y="339856"/>
                  </a:cubicBezTo>
                  <a:cubicBezTo>
                    <a:pt x="2797773" y="269223"/>
                    <a:pt x="3554658" y="310425"/>
                    <a:pt x="3811457" y="339856"/>
                  </a:cubicBezTo>
                  <a:lnTo>
                    <a:pt x="3811457" y="7840"/>
                  </a:lnTo>
                  <a:cubicBezTo>
                    <a:pt x="3811457" y="5761"/>
                    <a:pt x="3810631" y="3766"/>
                    <a:pt x="3809160" y="2296"/>
                  </a:cubicBezTo>
                  <a:cubicBezTo>
                    <a:pt x="3807690" y="826"/>
                    <a:pt x="3805696" y="0"/>
                    <a:pt x="3803617" y="0"/>
                  </a:cubicBezTo>
                  <a:close/>
                </a:path>
              </a:pathLst>
            </a:custGeom>
            <a:solidFill>
              <a:srgbClr val="919191">
                <a:alpha val="65882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1457" cy="335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-679081"/>
            <a:ext cx="18288000" cy="2074139"/>
            <a:chOff x="0" y="0"/>
            <a:chExt cx="3687704" cy="4182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87704" cy="419184"/>
            </a:xfrm>
            <a:custGeom>
              <a:avLst/>
              <a:gdLst/>
              <a:ahLst/>
              <a:cxnLst/>
              <a:rect r="r" b="b" t="t" l="l"/>
              <a:pathLst>
                <a:path h="419184" w="3687704">
                  <a:moveTo>
                    <a:pt x="3679601" y="0"/>
                  </a:moveTo>
                  <a:lnTo>
                    <a:pt x="8103" y="0"/>
                  </a:lnTo>
                  <a:cubicBezTo>
                    <a:pt x="5954" y="0"/>
                    <a:pt x="3893" y="854"/>
                    <a:pt x="2373" y="2373"/>
                  </a:cubicBezTo>
                  <a:cubicBezTo>
                    <a:pt x="854" y="3893"/>
                    <a:pt x="0" y="5954"/>
                    <a:pt x="0" y="8103"/>
                  </a:cubicBezTo>
                  <a:lnTo>
                    <a:pt x="0" y="375188"/>
                  </a:lnTo>
                  <a:cubicBezTo>
                    <a:pt x="196154" y="407677"/>
                    <a:pt x="823848" y="455355"/>
                    <a:pt x="1765386" y="375188"/>
                  </a:cubicBezTo>
                  <a:cubicBezTo>
                    <a:pt x="2706933" y="297212"/>
                    <a:pt x="3439243" y="342698"/>
                    <a:pt x="3687704" y="375188"/>
                  </a:cubicBezTo>
                  <a:lnTo>
                    <a:pt x="3687704" y="8103"/>
                  </a:lnTo>
                  <a:cubicBezTo>
                    <a:pt x="3687704" y="5954"/>
                    <a:pt x="3686850" y="3893"/>
                    <a:pt x="3685330" y="2373"/>
                  </a:cubicBezTo>
                  <a:cubicBezTo>
                    <a:pt x="3683811" y="854"/>
                    <a:pt x="3681750" y="0"/>
                    <a:pt x="3679601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687704" cy="366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-1712806"/>
            <a:ext cx="18511060" cy="2953111"/>
            <a:chOff x="0" y="0"/>
            <a:chExt cx="3732683" cy="5954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32683" cy="590097"/>
            </a:xfrm>
            <a:custGeom>
              <a:avLst/>
              <a:gdLst/>
              <a:ahLst/>
              <a:cxnLst/>
              <a:rect r="r" b="b" t="t" l="l"/>
              <a:pathLst>
                <a:path h="590097" w="3732683">
                  <a:moveTo>
                    <a:pt x="3724677" y="0"/>
                  </a:moveTo>
                  <a:lnTo>
                    <a:pt x="8005" y="0"/>
                  </a:lnTo>
                  <a:cubicBezTo>
                    <a:pt x="3584" y="0"/>
                    <a:pt x="0" y="3584"/>
                    <a:pt x="0" y="8005"/>
                  </a:cubicBezTo>
                  <a:lnTo>
                    <a:pt x="0" y="534184"/>
                  </a:lnTo>
                  <a:cubicBezTo>
                    <a:pt x="198547" y="580441"/>
                    <a:pt x="833897" y="632596"/>
                    <a:pt x="1786919" y="534184"/>
                  </a:cubicBezTo>
                  <a:cubicBezTo>
                    <a:pt x="2739949" y="423164"/>
                    <a:pt x="3481191" y="487925"/>
                    <a:pt x="3732683" y="534184"/>
                  </a:cubicBezTo>
                  <a:lnTo>
                    <a:pt x="3732683" y="8005"/>
                  </a:lnTo>
                  <a:cubicBezTo>
                    <a:pt x="3732683" y="5882"/>
                    <a:pt x="3731839" y="3846"/>
                    <a:pt x="3730338" y="2345"/>
                  </a:cubicBezTo>
                  <a:cubicBezTo>
                    <a:pt x="3728837" y="843"/>
                    <a:pt x="3726800" y="0"/>
                    <a:pt x="37246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732683" cy="505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0" y="6600916"/>
            <a:ext cx="3578852" cy="3686084"/>
          </a:xfrm>
          <a:custGeom>
            <a:avLst/>
            <a:gdLst/>
            <a:ahLst/>
            <a:cxnLst/>
            <a:rect r="r" b="b" t="t" l="l"/>
            <a:pathLst>
              <a:path h="3686084" w="3578852">
                <a:moveTo>
                  <a:pt x="0" y="0"/>
                </a:moveTo>
                <a:lnTo>
                  <a:pt x="3578852" y="0"/>
                </a:lnTo>
                <a:lnTo>
                  <a:pt x="3578852" y="3686084"/>
                </a:lnTo>
                <a:lnTo>
                  <a:pt x="0" y="3686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103873">
            <a:off x="1327643" y="2209785"/>
            <a:ext cx="923567" cy="1121329"/>
          </a:xfrm>
          <a:custGeom>
            <a:avLst/>
            <a:gdLst/>
            <a:ahLst/>
            <a:cxnLst/>
            <a:rect r="r" b="b" t="t" l="l"/>
            <a:pathLst>
              <a:path h="1121329" w="923567">
                <a:moveTo>
                  <a:pt x="0" y="0"/>
                </a:moveTo>
                <a:lnTo>
                  <a:pt x="923567" y="0"/>
                </a:lnTo>
                <a:lnTo>
                  <a:pt x="923567" y="1121329"/>
                </a:lnTo>
                <a:lnTo>
                  <a:pt x="0" y="1121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201870" y="9199315"/>
            <a:ext cx="1499315" cy="1087685"/>
          </a:xfrm>
          <a:custGeom>
            <a:avLst/>
            <a:gdLst/>
            <a:ahLst/>
            <a:cxnLst/>
            <a:rect r="r" b="b" t="t" l="l"/>
            <a:pathLst>
              <a:path h="1087685" w="1499315">
                <a:moveTo>
                  <a:pt x="0" y="0"/>
                </a:moveTo>
                <a:lnTo>
                  <a:pt x="1499316" y="0"/>
                </a:lnTo>
                <a:lnTo>
                  <a:pt x="1499316" y="1087685"/>
                </a:lnTo>
                <a:lnTo>
                  <a:pt x="0" y="1087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1016807">
            <a:off x="14351442" y="1896052"/>
            <a:ext cx="1600462" cy="1609239"/>
          </a:xfrm>
          <a:custGeom>
            <a:avLst/>
            <a:gdLst/>
            <a:ahLst/>
            <a:cxnLst/>
            <a:rect r="r" b="b" t="t" l="l"/>
            <a:pathLst>
              <a:path h="1609239" w="1600462">
                <a:moveTo>
                  <a:pt x="0" y="0"/>
                </a:moveTo>
                <a:lnTo>
                  <a:pt x="1600461" y="0"/>
                </a:lnTo>
                <a:lnTo>
                  <a:pt x="1600461" y="1609239"/>
                </a:lnTo>
                <a:lnTo>
                  <a:pt x="0" y="16092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9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58377">
            <a:off x="11608048" y="6244265"/>
            <a:ext cx="1060059" cy="1035003"/>
          </a:xfrm>
          <a:custGeom>
            <a:avLst/>
            <a:gdLst/>
            <a:ahLst/>
            <a:cxnLst/>
            <a:rect r="r" b="b" t="t" l="l"/>
            <a:pathLst>
              <a:path h="1035003" w="1060059">
                <a:moveTo>
                  <a:pt x="0" y="0"/>
                </a:moveTo>
                <a:lnTo>
                  <a:pt x="1060059" y="0"/>
                </a:lnTo>
                <a:lnTo>
                  <a:pt x="1060059" y="1035003"/>
                </a:lnTo>
                <a:lnTo>
                  <a:pt x="0" y="10350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688311">
            <a:off x="5701186" y="5354830"/>
            <a:ext cx="905372" cy="768743"/>
          </a:xfrm>
          <a:custGeom>
            <a:avLst/>
            <a:gdLst/>
            <a:ahLst/>
            <a:cxnLst/>
            <a:rect r="r" b="b" t="t" l="l"/>
            <a:pathLst>
              <a:path h="768743" w="905372">
                <a:moveTo>
                  <a:pt x="0" y="0"/>
                </a:moveTo>
                <a:lnTo>
                  <a:pt x="905371" y="0"/>
                </a:lnTo>
                <a:lnTo>
                  <a:pt x="905371" y="768743"/>
                </a:lnTo>
                <a:lnTo>
                  <a:pt x="0" y="7687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966913" y="3059051"/>
            <a:ext cx="1277389" cy="1289108"/>
          </a:xfrm>
          <a:custGeom>
            <a:avLst/>
            <a:gdLst/>
            <a:ahLst/>
            <a:cxnLst/>
            <a:rect r="r" b="b" t="t" l="l"/>
            <a:pathLst>
              <a:path h="1289108" w="1277389">
                <a:moveTo>
                  <a:pt x="0" y="0"/>
                </a:moveTo>
                <a:lnTo>
                  <a:pt x="1277389" y="0"/>
                </a:lnTo>
                <a:lnTo>
                  <a:pt x="1277389" y="1289108"/>
                </a:lnTo>
                <a:lnTo>
                  <a:pt x="0" y="12891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51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334170" y="8099396"/>
            <a:ext cx="1005946" cy="994972"/>
          </a:xfrm>
          <a:custGeom>
            <a:avLst/>
            <a:gdLst/>
            <a:ahLst/>
            <a:cxnLst/>
            <a:rect r="r" b="b" t="t" l="l"/>
            <a:pathLst>
              <a:path h="994972" w="1005946">
                <a:moveTo>
                  <a:pt x="0" y="0"/>
                </a:moveTo>
                <a:lnTo>
                  <a:pt x="1005946" y="0"/>
                </a:lnTo>
                <a:lnTo>
                  <a:pt x="1005946" y="994972"/>
                </a:lnTo>
                <a:lnTo>
                  <a:pt x="0" y="9949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44999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973016">
            <a:off x="12414420" y="8701829"/>
            <a:ext cx="1229741" cy="994972"/>
          </a:xfrm>
          <a:custGeom>
            <a:avLst/>
            <a:gdLst/>
            <a:ahLst/>
            <a:cxnLst/>
            <a:rect r="r" b="b" t="t" l="l"/>
            <a:pathLst>
              <a:path h="994972" w="1229741">
                <a:moveTo>
                  <a:pt x="0" y="0"/>
                </a:moveTo>
                <a:lnTo>
                  <a:pt x="1229742" y="0"/>
                </a:lnTo>
                <a:lnTo>
                  <a:pt x="1229742" y="994972"/>
                </a:lnTo>
                <a:lnTo>
                  <a:pt x="0" y="99497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44999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944246" y="3394405"/>
            <a:ext cx="13669413" cy="137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6"/>
              </a:lnSpc>
            </a:pPr>
            <a:r>
              <a:rPr lang="en-US" sz="8004">
                <a:solidFill>
                  <a:srgbClr val="FF5757"/>
                </a:solidFill>
                <a:latin typeface="Gagalin"/>
                <a:ea typeface="Gagalin"/>
                <a:cs typeface="Gagalin"/>
                <a:sym typeface="Gagalin"/>
              </a:rPr>
              <a:t>E-Commerce Sales Dashboard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66913" y="4495891"/>
            <a:ext cx="11886566" cy="109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03"/>
              </a:lnSpc>
            </a:pPr>
            <a:r>
              <a:rPr lang="en-US" sz="6359" b="true">
                <a:solidFill>
                  <a:srgbClr val="FFBD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93FF">
                <a:alpha val="100000"/>
              </a:srgbClr>
            </a:gs>
            <a:gs pos="100000">
              <a:srgbClr val="FDF1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930" y="4509502"/>
            <a:ext cx="16582139" cy="670369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978230" y="4738052"/>
            <a:ext cx="331539" cy="5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"/>
              </a:lnSpc>
            </a:pPr>
            <a:r>
              <a:rPr lang="en-US" b="true" sz="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a subheading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8264" y="1187768"/>
            <a:ext cx="1187316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total sales and profit by Year/Month?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39424" y="2049795"/>
            <a:ext cx="3345271" cy="94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2356" indent="-390785" lvl="2">
              <a:lnSpc>
                <a:spcPts val="3801"/>
              </a:lnSpc>
              <a:buFont typeface="Arial"/>
              <a:buChar char="⚬"/>
            </a:pPr>
            <a:r>
              <a:rPr lang="en-US" b="true" sz="27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Sales :</a:t>
            </a:r>
          </a:p>
          <a:p>
            <a:pPr algn="l" marL="1172356" indent="-390785" lvl="2">
              <a:lnSpc>
                <a:spcPts val="3801"/>
              </a:lnSpc>
              <a:buFont typeface="Arial"/>
              <a:buChar char="⚬"/>
            </a:pPr>
            <a:r>
              <a:rPr lang="en-US" b="true" sz="27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Profit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4775" y="2749868"/>
            <a:ext cx="11412269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Monthly sales fluctuate between 3% to 6%,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peak performance around September and December.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most times it is maintaining the same value showing that less percentage of losses.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64656" y="2049795"/>
            <a:ext cx="1326892" cy="46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7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$1.5M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00656" y="2546287"/>
            <a:ext cx="1054894" cy="46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7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$0.3M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99504" y="1491409"/>
            <a:ext cx="3456045" cy="38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26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2024: 49%         2025: 51%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93FF">
                <a:alpha val="100000"/>
              </a:srgbClr>
            </a:gs>
            <a:gs pos="100000">
              <a:srgbClr val="FDF1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4566" y="2126223"/>
            <a:ext cx="8592482" cy="603455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138692" y="2086067"/>
            <a:ext cx="832618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region generates the highest revenue?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51008" y="3324575"/>
            <a:ext cx="8326189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Europe and Africa generate the highest revenue at 22% each.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followed by: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Middle east- 19%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Asia- 19%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North amercia- 18%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93FF">
                <a:alpha val="100000"/>
              </a:srgbClr>
            </a:gs>
            <a:gs pos="100000">
              <a:srgbClr val="FDF1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7485" y="1797289"/>
            <a:ext cx="6299280" cy="669242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567630" y="2069241"/>
            <a:ext cx="686395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country and city perfom best?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49095" y="3610438"/>
            <a:ext cx="9984660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AutoNum type="arabicPeriod" startAt="1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Top Country: Germany(20% sales, 20% profit)</a:t>
            </a:r>
          </a:p>
          <a:p>
            <a:pPr algn="l" marL="626111" indent="-313055" lvl="1">
              <a:lnSpc>
                <a:spcPts val="4060"/>
              </a:lnSpc>
              <a:buAutoNum type="arabicPeriod" startAt="1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Top Profit: Dubai(53&amp; contribution among top cities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93FF">
                <a:alpha val="100000"/>
              </a:srgbClr>
            </a:gs>
            <a:gs pos="100000">
              <a:srgbClr val="FDF1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93660" y="2375911"/>
            <a:ext cx="8524694" cy="592583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017858" y="1923295"/>
            <a:ext cx="946100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product category contributes most to sales?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98296" y="3812893"/>
            <a:ext cx="9461004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Fashion category contributes the most to sales with 22% share.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is a equal increment from Electronics to Beauty.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93FF">
                <a:alpha val="100000"/>
              </a:srgbClr>
            </a:gs>
            <a:gs pos="100000">
              <a:srgbClr val="FDF1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5060" y="2235438"/>
            <a:ext cx="7723686" cy="660032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540884" y="2364729"/>
            <a:ext cx="66753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sales channel performs best?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13003" y="4009063"/>
            <a:ext cx="7131151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Market place performs best, contributing 41% of total sales.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outperforms Website and Mobile app.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93FF">
                <a:alpha val="100000"/>
              </a:srgbClr>
            </a:gs>
            <a:gs pos="100000">
              <a:srgbClr val="FDF1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04958" y="1313622"/>
            <a:ext cx="8684910" cy="823168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029407" y="1980214"/>
            <a:ext cx="737279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are the top 10 Products by sales?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29407" y="3388575"/>
            <a:ext cx="8479650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Shoes is the top-Selling product, followed by Headphones and Mixer.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products contribute the highest percentage of sales.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093FF">
                <a:alpha val="100000"/>
              </a:srgbClr>
            </a:gs>
            <a:gs pos="100000">
              <a:srgbClr val="FDF1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8728" y="2052610"/>
            <a:ext cx="362441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6956" y="3328572"/>
            <a:ext cx="16212344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company generated strong total sales and maintained a good progit margin of 22.59%.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Europe and Africa contribute the highest regional sales.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Fashion is the top-performing product category.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place is the best-performing sales channel.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USA contributes the highest revenue and profit.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4538" y="1822192"/>
            <a:ext cx="1194359" cy="1074923"/>
          </a:xfrm>
          <a:custGeom>
            <a:avLst/>
            <a:gdLst/>
            <a:ahLst/>
            <a:cxnLst/>
            <a:rect r="r" b="b" t="t" l="l"/>
            <a:pathLst>
              <a:path h="1074923" w="1194359">
                <a:moveTo>
                  <a:pt x="0" y="0"/>
                </a:moveTo>
                <a:lnTo>
                  <a:pt x="1194359" y="0"/>
                </a:lnTo>
                <a:lnTo>
                  <a:pt x="1194359" y="1074924"/>
                </a:lnTo>
                <a:lnTo>
                  <a:pt x="0" y="1074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651" y="6976313"/>
            <a:ext cx="3556402" cy="3310687"/>
          </a:xfrm>
          <a:custGeom>
            <a:avLst/>
            <a:gdLst/>
            <a:ahLst/>
            <a:cxnLst/>
            <a:rect r="r" b="b" t="t" l="l"/>
            <a:pathLst>
              <a:path h="3310687" w="3556402">
                <a:moveTo>
                  <a:pt x="0" y="0"/>
                </a:moveTo>
                <a:lnTo>
                  <a:pt x="3556402" y="0"/>
                </a:lnTo>
                <a:lnTo>
                  <a:pt x="3556402" y="3310687"/>
                </a:lnTo>
                <a:lnTo>
                  <a:pt x="0" y="3310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19531">
            <a:off x="5539036" y="5772111"/>
            <a:ext cx="1060059" cy="1035003"/>
          </a:xfrm>
          <a:custGeom>
            <a:avLst/>
            <a:gdLst/>
            <a:ahLst/>
            <a:cxnLst/>
            <a:rect r="r" b="b" t="t" l="l"/>
            <a:pathLst>
              <a:path h="1035003" w="1060059">
                <a:moveTo>
                  <a:pt x="0" y="0"/>
                </a:moveTo>
                <a:lnTo>
                  <a:pt x="1060058" y="0"/>
                </a:lnTo>
                <a:lnTo>
                  <a:pt x="1060058" y="1035002"/>
                </a:lnTo>
                <a:lnTo>
                  <a:pt x="0" y="10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59224">
            <a:off x="15223441" y="2480861"/>
            <a:ext cx="923567" cy="1121329"/>
          </a:xfrm>
          <a:custGeom>
            <a:avLst/>
            <a:gdLst/>
            <a:ahLst/>
            <a:cxnLst/>
            <a:rect r="r" b="b" t="t" l="l"/>
            <a:pathLst>
              <a:path h="1121329" w="923567">
                <a:moveTo>
                  <a:pt x="0" y="0"/>
                </a:moveTo>
                <a:lnTo>
                  <a:pt x="923567" y="0"/>
                </a:lnTo>
                <a:lnTo>
                  <a:pt x="923567" y="1121328"/>
                </a:lnTo>
                <a:lnTo>
                  <a:pt x="0" y="11213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18242" y="7610974"/>
            <a:ext cx="1381713" cy="1193298"/>
          </a:xfrm>
          <a:custGeom>
            <a:avLst/>
            <a:gdLst/>
            <a:ahLst/>
            <a:cxnLst/>
            <a:rect r="r" b="b" t="t" l="l"/>
            <a:pathLst>
              <a:path h="1193298" w="1381713">
                <a:moveTo>
                  <a:pt x="0" y="0"/>
                </a:moveTo>
                <a:lnTo>
                  <a:pt x="1381713" y="0"/>
                </a:lnTo>
                <a:lnTo>
                  <a:pt x="1381713" y="1193298"/>
                </a:lnTo>
                <a:lnTo>
                  <a:pt x="0" y="11932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70825" y="4312772"/>
            <a:ext cx="883121" cy="911288"/>
          </a:xfrm>
          <a:custGeom>
            <a:avLst/>
            <a:gdLst/>
            <a:ahLst/>
            <a:cxnLst/>
            <a:rect r="r" b="b" t="t" l="l"/>
            <a:pathLst>
              <a:path h="911288" w="883121">
                <a:moveTo>
                  <a:pt x="0" y="0"/>
                </a:moveTo>
                <a:lnTo>
                  <a:pt x="883121" y="0"/>
                </a:lnTo>
                <a:lnTo>
                  <a:pt x="883121" y="911288"/>
                </a:lnTo>
                <a:lnTo>
                  <a:pt x="0" y="9112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7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59139" y="2465950"/>
            <a:ext cx="1197683" cy="862332"/>
          </a:xfrm>
          <a:custGeom>
            <a:avLst/>
            <a:gdLst/>
            <a:ahLst/>
            <a:cxnLst/>
            <a:rect r="r" b="b" t="t" l="l"/>
            <a:pathLst>
              <a:path h="862332" w="1197683">
                <a:moveTo>
                  <a:pt x="0" y="0"/>
                </a:moveTo>
                <a:lnTo>
                  <a:pt x="1197683" y="0"/>
                </a:lnTo>
                <a:lnTo>
                  <a:pt x="1197683" y="862332"/>
                </a:lnTo>
                <a:lnTo>
                  <a:pt x="0" y="8623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25472">
            <a:off x="13693023" y="4706905"/>
            <a:ext cx="1038084" cy="1034309"/>
          </a:xfrm>
          <a:custGeom>
            <a:avLst/>
            <a:gdLst/>
            <a:ahLst/>
            <a:cxnLst/>
            <a:rect r="r" b="b" t="t" l="l"/>
            <a:pathLst>
              <a:path h="1034309" w="1038084">
                <a:moveTo>
                  <a:pt x="0" y="0"/>
                </a:moveTo>
                <a:lnTo>
                  <a:pt x="1038084" y="0"/>
                </a:lnTo>
                <a:lnTo>
                  <a:pt x="1038084" y="1034309"/>
                </a:lnTo>
                <a:lnTo>
                  <a:pt x="0" y="10343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55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68636" y="4094025"/>
            <a:ext cx="949258" cy="911288"/>
          </a:xfrm>
          <a:custGeom>
            <a:avLst/>
            <a:gdLst/>
            <a:ahLst/>
            <a:cxnLst/>
            <a:rect r="r" b="b" t="t" l="l"/>
            <a:pathLst>
              <a:path h="911288" w="949258">
                <a:moveTo>
                  <a:pt x="0" y="0"/>
                </a:moveTo>
                <a:lnTo>
                  <a:pt x="949259" y="0"/>
                </a:lnTo>
                <a:lnTo>
                  <a:pt x="949259" y="911288"/>
                </a:lnTo>
                <a:lnTo>
                  <a:pt x="0" y="9112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55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22693" y="7996119"/>
            <a:ext cx="959501" cy="993834"/>
          </a:xfrm>
          <a:custGeom>
            <a:avLst/>
            <a:gdLst/>
            <a:ahLst/>
            <a:cxnLst/>
            <a:rect r="r" b="b" t="t" l="l"/>
            <a:pathLst>
              <a:path h="993834" w="959501">
                <a:moveTo>
                  <a:pt x="0" y="0"/>
                </a:moveTo>
                <a:lnTo>
                  <a:pt x="959501" y="0"/>
                </a:lnTo>
                <a:lnTo>
                  <a:pt x="959501" y="993834"/>
                </a:lnTo>
                <a:lnTo>
                  <a:pt x="0" y="99383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51000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3906630" y="-1918824"/>
            <a:ext cx="6422817" cy="6012850"/>
            <a:chOff x="0" y="0"/>
            <a:chExt cx="596900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919191">
                <a:alpha val="56863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885059">
            <a:off x="13446531" y="7219198"/>
            <a:ext cx="13130632" cy="3359695"/>
            <a:chOff x="0" y="0"/>
            <a:chExt cx="2729934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29934" cy="698500"/>
            </a:xfrm>
            <a:custGeom>
              <a:avLst/>
              <a:gdLst/>
              <a:ahLst/>
              <a:cxnLst/>
              <a:rect r="r" b="b" t="t" l="l"/>
              <a:pathLst>
                <a:path h="698500" w="2729934">
                  <a:moveTo>
                    <a:pt x="2729934" y="349250"/>
                  </a:moveTo>
                  <a:cubicBezTo>
                    <a:pt x="2299930" y="313379"/>
                    <a:pt x="1963289" y="175825"/>
                    <a:pt x="1875614" y="0"/>
                  </a:cubicBezTo>
                  <a:cubicBezTo>
                    <a:pt x="1813247" y="125312"/>
                    <a:pt x="1624093" y="231178"/>
                    <a:pt x="1364967" y="294716"/>
                  </a:cubicBezTo>
                  <a:cubicBezTo>
                    <a:pt x="1105842" y="231178"/>
                    <a:pt x="916687" y="125475"/>
                    <a:pt x="854321" y="0"/>
                  </a:cubicBezTo>
                  <a:cubicBezTo>
                    <a:pt x="766645" y="175825"/>
                    <a:pt x="430005" y="313379"/>
                    <a:pt x="0" y="349250"/>
                  </a:cubicBezTo>
                  <a:cubicBezTo>
                    <a:pt x="430005" y="385121"/>
                    <a:pt x="766645" y="522675"/>
                    <a:pt x="854321" y="698500"/>
                  </a:cubicBezTo>
                  <a:cubicBezTo>
                    <a:pt x="916687" y="573188"/>
                    <a:pt x="1105842" y="467322"/>
                    <a:pt x="1364967" y="403784"/>
                  </a:cubicBezTo>
                  <a:cubicBezTo>
                    <a:pt x="1624093" y="467322"/>
                    <a:pt x="1813247" y="573025"/>
                    <a:pt x="1875614" y="698500"/>
                  </a:cubicBezTo>
                  <a:cubicBezTo>
                    <a:pt x="1963289" y="522675"/>
                    <a:pt x="2299930" y="385121"/>
                    <a:pt x="2729934" y="349250"/>
                  </a:cubicBezTo>
                  <a:close/>
                </a:path>
              </a:pathLst>
            </a:custGeom>
            <a:solidFill>
              <a:srgbClr val="91919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97811" y="101600"/>
              <a:ext cx="213431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939272">
            <a:off x="14430039" y="7593957"/>
            <a:ext cx="10080245" cy="3001308"/>
            <a:chOff x="0" y="0"/>
            <a:chExt cx="2221535" cy="6614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21535" cy="661443"/>
            </a:xfrm>
            <a:custGeom>
              <a:avLst/>
              <a:gdLst/>
              <a:ahLst/>
              <a:cxnLst/>
              <a:rect r="r" b="b" t="t" l="l"/>
              <a:pathLst>
                <a:path h="661443" w="2221535">
                  <a:moveTo>
                    <a:pt x="2221535" y="330722"/>
                  </a:moveTo>
                  <a:cubicBezTo>
                    <a:pt x="1871611" y="296754"/>
                    <a:pt x="1597664" y="166497"/>
                    <a:pt x="1526316" y="0"/>
                  </a:cubicBezTo>
                  <a:cubicBezTo>
                    <a:pt x="1475564" y="118664"/>
                    <a:pt x="1321636" y="218914"/>
                    <a:pt x="1110768" y="279081"/>
                  </a:cubicBezTo>
                  <a:cubicBezTo>
                    <a:pt x="899899" y="218914"/>
                    <a:pt x="745971" y="118819"/>
                    <a:pt x="695219" y="0"/>
                  </a:cubicBezTo>
                  <a:cubicBezTo>
                    <a:pt x="623872" y="166497"/>
                    <a:pt x="349925" y="296754"/>
                    <a:pt x="0" y="330722"/>
                  </a:cubicBezTo>
                  <a:cubicBezTo>
                    <a:pt x="349925" y="364690"/>
                    <a:pt x="623872" y="494946"/>
                    <a:pt x="695219" y="661443"/>
                  </a:cubicBezTo>
                  <a:cubicBezTo>
                    <a:pt x="745971" y="542779"/>
                    <a:pt x="899899" y="442530"/>
                    <a:pt x="1110768" y="382362"/>
                  </a:cubicBezTo>
                  <a:cubicBezTo>
                    <a:pt x="1321636" y="442530"/>
                    <a:pt x="1475564" y="542625"/>
                    <a:pt x="1526316" y="661443"/>
                  </a:cubicBezTo>
                  <a:cubicBezTo>
                    <a:pt x="1597664" y="494946"/>
                    <a:pt x="1871611" y="364690"/>
                    <a:pt x="2221535" y="330722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42349" y="94189"/>
              <a:ext cx="1736837" cy="434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225452">
            <a:off x="15160098" y="7730218"/>
            <a:ext cx="8458459" cy="3086100"/>
            <a:chOff x="0" y="0"/>
            <a:chExt cx="1914466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14466" cy="698500"/>
            </a:xfrm>
            <a:custGeom>
              <a:avLst/>
              <a:gdLst/>
              <a:ahLst/>
              <a:cxnLst/>
              <a:rect r="r" b="b" t="t" l="l"/>
              <a:pathLst>
                <a:path h="698500" w="1914466">
                  <a:moveTo>
                    <a:pt x="1914466" y="349250"/>
                  </a:moveTo>
                  <a:cubicBezTo>
                    <a:pt x="1612910" y="313379"/>
                    <a:pt x="1376828" y="175825"/>
                    <a:pt x="1315342" y="0"/>
                  </a:cubicBezTo>
                  <a:cubicBezTo>
                    <a:pt x="1271606" y="125312"/>
                    <a:pt x="1138954" y="231178"/>
                    <a:pt x="957233" y="294716"/>
                  </a:cubicBezTo>
                  <a:cubicBezTo>
                    <a:pt x="775512" y="231178"/>
                    <a:pt x="642860" y="125475"/>
                    <a:pt x="599123" y="0"/>
                  </a:cubicBezTo>
                  <a:cubicBezTo>
                    <a:pt x="537638" y="175825"/>
                    <a:pt x="301557" y="313379"/>
                    <a:pt x="0" y="349250"/>
                  </a:cubicBezTo>
                  <a:cubicBezTo>
                    <a:pt x="301557" y="385121"/>
                    <a:pt x="537638" y="522675"/>
                    <a:pt x="599123" y="698500"/>
                  </a:cubicBezTo>
                  <a:cubicBezTo>
                    <a:pt x="642860" y="573188"/>
                    <a:pt x="775512" y="467322"/>
                    <a:pt x="957233" y="403784"/>
                  </a:cubicBezTo>
                  <a:cubicBezTo>
                    <a:pt x="1138954" y="467322"/>
                    <a:pt x="1271606" y="573025"/>
                    <a:pt x="1315342" y="698500"/>
                  </a:cubicBezTo>
                  <a:cubicBezTo>
                    <a:pt x="1376828" y="522675"/>
                    <a:pt x="1612910" y="385121"/>
                    <a:pt x="1914466" y="34925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208851" y="101600"/>
              <a:ext cx="149676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2958590" y="-1792857"/>
            <a:ext cx="5470307" cy="5121139"/>
            <a:chOff x="0" y="0"/>
            <a:chExt cx="596900" cy="55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2692798" y="-1544031"/>
            <a:ext cx="4938724" cy="4623486"/>
            <a:chOff x="0" y="0"/>
            <a:chExt cx="596900" cy="55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6900" cy="558800"/>
            </a:xfrm>
            <a:custGeom>
              <a:avLst/>
              <a:gdLst/>
              <a:ahLst/>
              <a:cxnLst/>
              <a:rect r="r" b="b" t="t" l="l"/>
              <a:pathLst>
                <a:path h="558800" w="5969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01550" y="-1314101"/>
            <a:ext cx="17282933" cy="2545743"/>
            <a:chOff x="0" y="0"/>
            <a:chExt cx="5518062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18062" cy="812800"/>
            </a:xfrm>
            <a:custGeom>
              <a:avLst/>
              <a:gdLst/>
              <a:ahLst/>
              <a:cxnLst/>
              <a:rect r="r" b="b" t="t" l="l"/>
              <a:pathLst>
                <a:path h="812800" w="5518062">
                  <a:moveTo>
                    <a:pt x="5518062" y="0"/>
                  </a:moveTo>
                  <a:lnTo>
                    <a:pt x="5518062" y="812800"/>
                  </a:lnTo>
                  <a:lnTo>
                    <a:pt x="2759031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5518062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518062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838986" y="2834495"/>
            <a:ext cx="13703117" cy="238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2"/>
              </a:lnSpc>
            </a:pPr>
            <a:r>
              <a:rPr lang="en-US" sz="6851">
                <a:solidFill>
                  <a:srgbClr val="FF5757"/>
                </a:solidFill>
                <a:latin typeface="Gagalin"/>
                <a:ea typeface="Gagalin"/>
                <a:cs typeface="Gagalin"/>
                <a:sym typeface="Gagalin"/>
              </a:rPr>
              <a:t>Customers Behaviour &amp;</a:t>
            </a:r>
          </a:p>
          <a:p>
            <a:pPr algn="ctr">
              <a:lnSpc>
                <a:spcPts val="9592"/>
              </a:lnSpc>
            </a:pPr>
            <a:r>
              <a:rPr lang="en-US" sz="6851">
                <a:solidFill>
                  <a:srgbClr val="FF5757"/>
                </a:solidFill>
                <a:latin typeface="Gagalin"/>
                <a:ea typeface="Gagalin"/>
                <a:cs typeface="Gagalin"/>
                <a:sym typeface="Gagalin"/>
              </a:rPr>
              <a:t> Segmentation Dashboard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-1325472">
            <a:off x="13845423" y="4859305"/>
            <a:ext cx="1038084" cy="1034309"/>
          </a:xfrm>
          <a:custGeom>
            <a:avLst/>
            <a:gdLst/>
            <a:ahLst/>
            <a:cxnLst/>
            <a:rect r="r" b="b" t="t" l="l"/>
            <a:pathLst>
              <a:path h="1034309" w="1038084">
                <a:moveTo>
                  <a:pt x="0" y="0"/>
                </a:moveTo>
                <a:lnTo>
                  <a:pt x="1038084" y="0"/>
                </a:lnTo>
                <a:lnTo>
                  <a:pt x="1038084" y="1034309"/>
                </a:lnTo>
                <a:lnTo>
                  <a:pt x="0" y="10343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55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6390" y="2104377"/>
            <a:ext cx="10107725" cy="673830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39623" y="1842463"/>
            <a:ext cx="96104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region has the highest number of customers?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81675" y="3915667"/>
            <a:ext cx="7807496" cy="202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23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Europe has the highest number of customers(205), followed by the Middle East (201).</a:t>
            </a:r>
          </a:p>
          <a:p>
            <a:pPr algn="l">
              <a:lnSpc>
                <a:spcPts val="3298"/>
              </a:lnSpc>
            </a:pPr>
            <a:r>
              <a:rPr lang="en-US" sz="23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Africa has the lowest customer count(191).</a:t>
            </a:r>
          </a:p>
          <a:p>
            <a:pPr algn="l">
              <a:lnSpc>
                <a:spcPts val="3298"/>
              </a:lnSpc>
            </a:pPr>
            <a:r>
              <a:rPr lang="en-US" sz="23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shows that Europe is the strongest performing region in terms of customer bass.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6033" y="1411225"/>
            <a:ext cx="6825262" cy="800735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019972" y="4623056"/>
            <a:ext cx="8500765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Berlin has the highest number of customers(141),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followed by New york(133) and Dubai(131).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strong urban market performances.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3505" y="2437769"/>
            <a:ext cx="667032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city has the most customers?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89840" y="2430257"/>
            <a:ext cx="8866320" cy="610882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268587" y="4464730"/>
            <a:ext cx="9317131" cy="130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Credit Card is the most used payment method</a:t>
            </a:r>
          </a:p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(213 transactions), followed closely by UPI(209 transactions).</a:t>
            </a:r>
          </a:p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strong digital payment adoption.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68587" y="2285912"/>
            <a:ext cx="776778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payment method is used the most?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1099" y="2463185"/>
            <a:ext cx="6766021" cy="608010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523285" y="4378960"/>
            <a:ext cx="11182796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most preferred channel is Marketplace(36%),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followed by Website(33%) and Market App(31%).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shows customers prefer third-party platforms for purchases,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04024" y="2741270"/>
            <a:ext cx="627682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Channel is most preferred?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27578" y="1620761"/>
            <a:ext cx="7084980" cy="721346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104970" y="4641441"/>
            <a:ext cx="823674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Mobile App generates the highest average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order margin(1604), followed by Website(1566).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Marketplace generates the lowest margin(1425).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29465" y="2504330"/>
            <a:ext cx="85893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Average Order Margin by Channel?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9082" y="2591708"/>
            <a:ext cx="7500617" cy="566262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263955" y="4410830"/>
            <a:ext cx="10459421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average discount ranges between 14% to 16% across regions.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North America provides the highest average discount(16%),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while Europe provides the lowest(14%).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04647" y="2433811"/>
            <a:ext cx="84421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average discount given by region?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9143" y="2354559"/>
            <a:ext cx="5758615" cy="696775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516863" y="3883660"/>
            <a:ext cx="10742437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 of 956 customers, 912 are new customers and only 44 are returning customers.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repeat customer ratio is approximately 4.6%, which indicates low customer retention and an oppurtunity to improve loyalty programs.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39532" y="2085301"/>
            <a:ext cx="1171976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difference between New and Returning Customers?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0698" y="1836678"/>
            <a:ext cx="7176022" cy="624794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104450" y="4383273"/>
            <a:ext cx="10154850" cy="191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average shipping time is approximately 5.5 days across all regions.</a:t>
            </a:r>
          </a:p>
          <a:p>
            <a:pPr algn="ctr">
              <a:lnSpc>
                <a:spcPts val="3822"/>
              </a:lnSpc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Europe has the highest shipping time (5.79 days), which may require logistics improvement.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04450" y="2148930"/>
            <a:ext cx="82505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average shipping time by region?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9924" y="1621800"/>
            <a:ext cx="4023271" cy="98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1"/>
              </a:lnSpc>
            </a:pPr>
            <a:r>
              <a:rPr lang="en-US" b="true" sz="5772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9222" y="3013190"/>
            <a:ext cx="15889556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company has strong customer acquisition but low retention.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Europe is the leading region in customer count.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place is the most preferred channel.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Mobile App generates higher profitability.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Improving customer retention and reducing shipping time can increase overall performances.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ED76BC">
                <a:alpha val="100000"/>
              </a:srgbClr>
            </a:gs>
            <a:gs pos="100000">
              <a:srgbClr val="F9DA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22110" y="3264592"/>
            <a:ext cx="14243781" cy="337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7"/>
              </a:lnSpc>
            </a:pPr>
            <a:r>
              <a:rPr lang="en-US" sz="19676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DAHCszsRHSo</dc:identifier>
  <dcterms:modified xsi:type="dcterms:W3CDTF">2011-08-01T06:04:30Z</dcterms:modified>
  <cp:revision>1</cp:revision>
  <dc:title>E-Commerce Sales Dashboard</dc:title>
</cp:coreProperties>
</file>